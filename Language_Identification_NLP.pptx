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F50D6-171D-AF9A-FDB2-8B87939E8A5A}" v="53" dt="2026-05-10T11:09:33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HAI BALACEANU" userId="S::mihai.balaceanu@s.unibuc.ro::23870728-56e5-45d4-ab44-8d2ac72c87be" providerId="AD" clId="Web-{D70F50D6-171D-AF9A-FDB2-8B87939E8A5A}"/>
    <pc:docChg chg="modSld">
      <pc:chgData name="MIHAI BALACEANU" userId="S::mihai.balaceanu@s.unibuc.ro::23870728-56e5-45d4-ab44-8d2ac72c87be" providerId="AD" clId="Web-{D70F50D6-171D-AF9A-FDB2-8B87939E8A5A}" dt="2026-05-10T11:09:33.468" v="52" actId="1076"/>
      <pc:docMkLst>
        <pc:docMk/>
      </pc:docMkLst>
      <pc:sldChg chg="addSp delSp modSp">
        <pc:chgData name="MIHAI BALACEANU" userId="S::mihai.balaceanu@s.unibuc.ro::23870728-56e5-45d4-ab44-8d2ac72c87be" providerId="AD" clId="Web-{D70F50D6-171D-AF9A-FDB2-8B87939E8A5A}" dt="2026-05-10T11:08:17.980" v="8" actId="20577"/>
        <pc:sldMkLst>
          <pc:docMk/>
          <pc:sldMk cId="0" sldId="256"/>
        </pc:sldMkLst>
        <pc:spChg chg="mod">
          <ac:chgData name="MIHAI BALACEANU" userId="S::mihai.balaceanu@s.unibuc.ro::23870728-56e5-45d4-ab44-8d2ac72c87be" providerId="AD" clId="Web-{D70F50D6-171D-AF9A-FDB2-8B87939E8A5A}" dt="2026-05-10T11:08:17.980" v="8" actId="20577"/>
          <ac:spMkLst>
            <pc:docMk/>
            <pc:sldMk cId="0" sldId="256"/>
            <ac:spMk id="34" creationId="{00000000-0000-0000-0000-000000000000}"/>
          </ac:spMkLst>
        </pc:spChg>
        <pc:spChg chg="add del mod">
          <ac:chgData name="MIHAI BALACEANU" userId="S::mihai.balaceanu@s.unibuc.ro::23870728-56e5-45d4-ab44-8d2ac72c87be" providerId="AD" clId="Web-{D70F50D6-171D-AF9A-FDB2-8B87939E8A5A}" dt="2026-05-10T11:07:52.932" v="3"/>
          <ac:spMkLst>
            <pc:docMk/>
            <pc:sldMk cId="0" sldId="256"/>
            <ac:spMk id="35" creationId="{CBC2FB2D-3587-034C-2B0A-52CDDD402D12}"/>
          </ac:spMkLst>
        </pc:spChg>
      </pc:sldChg>
      <pc:sldChg chg="modSp">
        <pc:chgData name="MIHAI BALACEANU" userId="S::mihai.balaceanu@s.unibuc.ro::23870728-56e5-45d4-ab44-8d2ac72c87be" providerId="AD" clId="Web-{D70F50D6-171D-AF9A-FDB2-8B87939E8A5A}" dt="2026-05-10T11:08:40.356" v="12" actId="1076"/>
        <pc:sldMkLst>
          <pc:docMk/>
          <pc:sldMk cId="0" sldId="258"/>
        </pc:sldMkLst>
        <pc:spChg chg="mod">
          <ac:chgData name="MIHAI BALACEANU" userId="S::mihai.balaceanu@s.unibuc.ro::23870728-56e5-45d4-ab44-8d2ac72c87be" providerId="AD" clId="Web-{D70F50D6-171D-AF9A-FDB2-8B87939E8A5A}" dt="2026-05-10T11:08:40.309" v="9" actId="1076"/>
          <ac:spMkLst>
            <pc:docMk/>
            <pc:sldMk cId="0" sldId="258"/>
            <ac:spMk id="52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8:40.325" v="10" actId="1076"/>
          <ac:spMkLst>
            <pc:docMk/>
            <pc:sldMk cId="0" sldId="258"/>
            <ac:spMk id="53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8:40.341" v="11" actId="1076"/>
          <ac:spMkLst>
            <pc:docMk/>
            <pc:sldMk cId="0" sldId="258"/>
            <ac:spMk id="54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8:40.356" v="12" actId="1076"/>
          <ac:spMkLst>
            <pc:docMk/>
            <pc:sldMk cId="0" sldId="258"/>
            <ac:spMk id="55" creationId="{00000000-0000-0000-0000-000000000000}"/>
          </ac:spMkLst>
        </pc:spChg>
      </pc:sldChg>
      <pc:sldChg chg="modSp">
        <pc:chgData name="MIHAI BALACEANU" userId="S::mihai.balaceanu@s.unibuc.ro::23870728-56e5-45d4-ab44-8d2ac72c87be" providerId="AD" clId="Web-{D70F50D6-171D-AF9A-FDB2-8B87939E8A5A}" dt="2026-05-10T11:09:33.468" v="52" actId="1076"/>
        <pc:sldMkLst>
          <pc:docMk/>
          <pc:sldMk cId="0" sldId="261"/>
        </pc:sldMkLst>
        <pc:spChg chg="mod">
          <ac:chgData name="MIHAI BALACEANU" userId="S::mihai.balaceanu@s.unibuc.ro::23870728-56e5-45d4-ab44-8d2ac72c87be" providerId="AD" clId="Web-{D70F50D6-171D-AF9A-FDB2-8B87939E8A5A}" dt="2026-05-10T11:09:19.686" v="28" actId="14100"/>
          <ac:spMkLst>
            <pc:docMk/>
            <pc:sldMk cId="0" sldId="261"/>
            <ac:spMk id="5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19.702" v="29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19.717" v="30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19.733" v="31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19.764" v="32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26.311" v="43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26.327" v="44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26.342" v="45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26.358" v="46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26.389" v="47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33.405" v="48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33.421" v="49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33.436" v="50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33.452" v="51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IHAI BALACEANU" userId="S::mihai.balaceanu@s.unibuc.ro::23870728-56e5-45d4-ab44-8d2ac72c87be" providerId="AD" clId="Web-{D70F50D6-171D-AF9A-FDB2-8B87939E8A5A}" dt="2026-05-10T11:09:33.468" v="52" actId="1076"/>
          <ac:spMkLst>
            <pc:docMk/>
            <pc:sldMk cId="0" sldId="261"/>
            <ac:spMk id="1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Acuratete (%)</c:v>
                </c:pt>
              </c:strCache>
            </c:strRef>
          </c:tx>
          <c:spPr>
            <a:solidFill>
              <a:srgbClr val="2F4A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254-4709-ABEE-DE972E66DC40}"/>
              </c:ext>
            </c:extLst>
          </c:dPt>
          <c:dPt>
            <c:idx val="1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54-4709-ABEE-DE972E66DC40}"/>
              </c:ext>
            </c:extLst>
          </c:dPt>
          <c:dPt>
            <c:idx val="2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54-4709-ABEE-DE972E66DC40}"/>
              </c:ext>
            </c:extLst>
          </c:dPt>
          <c:dPt>
            <c:idx val="3"/>
            <c:invertIfNegative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254-4709-ABEE-DE972E66DC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N-gram
(best n=4)</c:v>
                </c:pt>
                <c:pt idx="1">
                  <c:v>TF-IDF
LogReg</c:v>
                </c:pt>
                <c:pt idx="2">
                  <c:v>TF-IDF
SVM</c:v>
                </c:pt>
                <c:pt idx="3">
                  <c:v>XLM-
RoBERTa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97.63</c:v>
                </c:pt>
                <c:pt idx="1">
                  <c:v>97.92</c:v>
                </c:pt>
                <c:pt idx="2">
                  <c:v>98.97</c:v>
                </c:pt>
                <c:pt idx="3">
                  <c:v>90.99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54-4709-ABEE-DE972E66DC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64-4F89-B483-272A7A4C0D3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064-4F89-B483-272A7A4C0D30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64-4F89-B483-272A7A4C0D30}"/>
              </c:ext>
            </c:extLst>
          </c:dPt>
          <c:dPt>
            <c:idx val="3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64-4F89-B483-272A7A4C0D30}"/>
              </c:ext>
            </c:extLst>
          </c:dPt>
          <c:dPt>
            <c:idx val="4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64-4F89-B483-272A7A4C0D30}"/>
              </c:ext>
            </c:extLst>
          </c:dPt>
          <c:dPt>
            <c:idx val="5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064-4F89-B483-272A7A4C0D30}"/>
              </c:ext>
            </c:extLst>
          </c:dPt>
          <c:dPt>
            <c:idx val="6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064-4F89-B483-272A7A4C0D30}"/>
              </c:ext>
            </c:extLst>
          </c:dPt>
          <c:dPt>
            <c:idx val="7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064-4F89-B483-272A7A4C0D30}"/>
              </c:ext>
            </c:extLst>
          </c:dPt>
          <c:dPt>
            <c:idx val="8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064-4F89-B483-272A7A4C0D30}"/>
              </c:ext>
            </c:extLst>
          </c:dPt>
          <c:dPt>
            <c:idx val="9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064-4F89-B483-272A7A4C0D30}"/>
              </c:ext>
            </c:extLst>
          </c:dPt>
          <c:dPt>
            <c:idx val="10"/>
            <c:invertIfNegative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9064-4F89-B483-272A7A4C0D30}"/>
              </c:ext>
            </c:extLst>
          </c:dPt>
          <c:dPt>
            <c:idx val="11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9064-4F89-B483-272A7A4C0D30}"/>
              </c:ext>
            </c:extLst>
          </c:dPt>
          <c:dPt>
            <c:idx val="12"/>
            <c:invertIfNegative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9064-4F89-B483-272A7A4C0D3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AR</c:v>
                </c:pt>
                <c:pt idx="1">
                  <c:v>DE</c:v>
                </c:pt>
                <c:pt idx="2">
                  <c:v>EN</c:v>
                </c:pt>
                <c:pt idx="3">
                  <c:v>ES</c:v>
                </c:pt>
                <c:pt idx="4">
                  <c:v>FR</c:v>
                </c:pt>
                <c:pt idx="5">
                  <c:v>IT</c:v>
                </c:pt>
                <c:pt idx="6">
                  <c:v>JA</c:v>
                </c:pt>
                <c:pt idx="7">
                  <c:v>NL</c:v>
                </c:pt>
                <c:pt idx="8">
                  <c:v>PL</c:v>
                </c:pt>
                <c:pt idx="9">
                  <c:v>PT</c:v>
                </c:pt>
                <c:pt idx="10">
                  <c:v>RO</c:v>
                </c:pt>
                <c:pt idx="11">
                  <c:v>TR</c:v>
                </c:pt>
                <c:pt idx="12">
                  <c:v>ZH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0.99170000000000003</c:v>
                </c:pt>
                <c:pt idx="2">
                  <c:v>0.91779999999999995</c:v>
                </c:pt>
                <c:pt idx="3">
                  <c:v>0.98960000000000004</c:v>
                </c:pt>
                <c:pt idx="4">
                  <c:v>0.98970000000000002</c:v>
                </c:pt>
                <c:pt idx="5">
                  <c:v>0.98529999999999995</c:v>
                </c:pt>
                <c:pt idx="6">
                  <c:v>0.98950000000000005</c:v>
                </c:pt>
                <c:pt idx="7">
                  <c:v>0.97909999999999997</c:v>
                </c:pt>
                <c:pt idx="8">
                  <c:v>0.97750000000000004</c:v>
                </c:pt>
                <c:pt idx="9">
                  <c:v>0.97240000000000004</c:v>
                </c:pt>
                <c:pt idx="10">
                  <c:v>0.95379999999999998</c:v>
                </c:pt>
                <c:pt idx="11">
                  <c:v>0.98329999999999995</c:v>
                </c:pt>
                <c:pt idx="12">
                  <c:v>0.9657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9064-4F89-B483-272A7A4C0D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A6-4E74-98CA-7ED63BE45D5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4A6-4E74-98CA-7ED63BE45D50}"/>
              </c:ext>
            </c:extLst>
          </c:dPt>
          <c:dPt>
            <c:idx val="2"/>
            <c:invertIfNegative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A6-4E74-98CA-7ED63BE45D50}"/>
              </c:ext>
            </c:extLst>
          </c:dPt>
          <c:dPt>
            <c:idx val="3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4A6-4E74-98CA-7ED63BE45D50}"/>
              </c:ext>
            </c:extLst>
          </c:dPt>
          <c:dPt>
            <c:idx val="4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4A6-4E74-98CA-7ED63BE45D50}"/>
              </c:ext>
            </c:extLst>
          </c:dPt>
          <c:dPt>
            <c:idx val="5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4A6-4E74-98CA-7ED63BE45D5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4A6-4E74-98CA-7ED63BE45D50}"/>
              </c:ext>
            </c:extLst>
          </c:dPt>
          <c:dPt>
            <c:idx val="7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4A6-4E74-98CA-7ED63BE45D50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D4A6-4E74-98CA-7ED63BE45D50}"/>
              </c:ext>
            </c:extLst>
          </c:dPt>
          <c:dPt>
            <c:idx val="9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4A6-4E74-98CA-7ED63BE45D50}"/>
              </c:ext>
            </c:extLst>
          </c:dPt>
          <c:dPt>
            <c:idx val="10"/>
            <c:invertIfNegative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D4A6-4E74-98CA-7ED63BE45D50}"/>
              </c:ext>
            </c:extLst>
          </c:dPt>
          <c:dPt>
            <c:idx val="11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D4A6-4E74-98CA-7ED63BE45D50}"/>
              </c:ext>
            </c:extLst>
          </c:dPt>
          <c:dPt>
            <c:idx val="1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D4A6-4E74-98CA-7ED63BE45D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AR</c:v>
                </c:pt>
                <c:pt idx="1">
                  <c:v>DE</c:v>
                </c:pt>
                <c:pt idx="2">
                  <c:v>EN</c:v>
                </c:pt>
                <c:pt idx="3">
                  <c:v>ES</c:v>
                </c:pt>
                <c:pt idx="4">
                  <c:v>FR</c:v>
                </c:pt>
                <c:pt idx="5">
                  <c:v>IT</c:v>
                </c:pt>
                <c:pt idx="6">
                  <c:v>JA</c:v>
                </c:pt>
                <c:pt idx="7">
                  <c:v>NL</c:v>
                </c:pt>
                <c:pt idx="8">
                  <c:v>PL</c:v>
                </c:pt>
                <c:pt idx="9">
                  <c:v>PT</c:v>
                </c:pt>
                <c:pt idx="10">
                  <c:v>RO</c:v>
                </c:pt>
                <c:pt idx="11">
                  <c:v>TR</c:v>
                </c:pt>
                <c:pt idx="12">
                  <c:v>ZH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0.99160000000000004</c:v>
                </c:pt>
                <c:pt idx="1">
                  <c:v>0.99160000000000004</c:v>
                </c:pt>
                <c:pt idx="2">
                  <c:v>0.95950000000000002</c:v>
                </c:pt>
                <c:pt idx="3">
                  <c:v>0.98950000000000005</c:v>
                </c:pt>
                <c:pt idx="4">
                  <c:v>0.98550000000000004</c:v>
                </c:pt>
                <c:pt idx="5">
                  <c:v>0.98950000000000005</c:v>
                </c:pt>
                <c:pt idx="6">
                  <c:v>0.99370000000000003</c:v>
                </c:pt>
                <c:pt idx="7">
                  <c:v>0.98529999999999995</c:v>
                </c:pt>
                <c:pt idx="8">
                  <c:v>0.99790000000000001</c:v>
                </c:pt>
                <c:pt idx="9">
                  <c:v>0.98319999999999996</c:v>
                </c:pt>
                <c:pt idx="10">
                  <c:v>0.95650000000000002</c:v>
                </c:pt>
                <c:pt idx="11">
                  <c:v>0.98109999999999997</c:v>
                </c:pt>
                <c:pt idx="12">
                  <c:v>0.92730000000000001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D4A6-4E74-98CA-7ED63BE45D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C0-4BAB-9554-42D85F48F55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3C0-4BAB-9554-42D85F48F55D}"/>
              </c:ext>
            </c:extLst>
          </c:dPt>
          <c:dPt>
            <c:idx val="2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C0-4BAB-9554-42D85F48F55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3C0-4BAB-9554-42D85F48F55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3C0-4BAB-9554-42D85F48F55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3C0-4BAB-9554-42D85F48F55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3C0-4BAB-9554-42D85F48F55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B3C0-4BAB-9554-42D85F48F55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B3C0-4BAB-9554-42D85F48F55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3C0-4BAB-9554-42D85F48F55D}"/>
              </c:ext>
            </c:extLst>
          </c:dPt>
          <c:dPt>
            <c:idx val="10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B3C0-4BAB-9554-42D85F48F55D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B3C0-4BAB-9554-42D85F48F55D}"/>
              </c:ext>
            </c:extLst>
          </c:dPt>
          <c:dPt>
            <c:idx val="12"/>
            <c:invertIfNegative val="0"/>
            <c:bubble3D val="0"/>
            <c:spPr>
              <a:solidFill>
                <a:srgbClr val="4C8B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B3C0-4BAB-9554-42D85F48F5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AR</c:v>
                </c:pt>
                <c:pt idx="1">
                  <c:v>DE</c:v>
                </c:pt>
                <c:pt idx="2">
                  <c:v>EN</c:v>
                </c:pt>
                <c:pt idx="3">
                  <c:v>ES</c:v>
                </c:pt>
                <c:pt idx="4">
                  <c:v>FR</c:v>
                </c:pt>
                <c:pt idx="5">
                  <c:v>IT</c:v>
                </c:pt>
                <c:pt idx="6">
                  <c:v>JA</c:v>
                </c:pt>
                <c:pt idx="7">
                  <c:v>NL</c:v>
                </c:pt>
                <c:pt idx="8">
                  <c:v>PL</c:v>
                </c:pt>
                <c:pt idx="9">
                  <c:v>PT</c:v>
                </c:pt>
                <c:pt idx="10">
                  <c:v>RO</c:v>
                </c:pt>
                <c:pt idx="11">
                  <c:v>TR</c:v>
                </c:pt>
                <c:pt idx="12">
                  <c:v>ZH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0.99790000000000001</c:v>
                </c:pt>
                <c:pt idx="1">
                  <c:v>0.99370000000000003</c:v>
                </c:pt>
                <c:pt idx="2">
                  <c:v>0.97960000000000003</c:v>
                </c:pt>
                <c:pt idx="3">
                  <c:v>0.99580000000000002</c:v>
                </c:pt>
                <c:pt idx="4">
                  <c:v>0.99170000000000003</c:v>
                </c:pt>
                <c:pt idx="5">
                  <c:v>0.99790000000000001</c:v>
                </c:pt>
                <c:pt idx="6">
                  <c:v>0.99580000000000002</c:v>
                </c:pt>
                <c:pt idx="7">
                  <c:v>0.99370000000000003</c:v>
                </c:pt>
                <c:pt idx="8">
                  <c:v>1</c:v>
                </c:pt>
                <c:pt idx="9">
                  <c:v>0.99380000000000002</c:v>
                </c:pt>
                <c:pt idx="10">
                  <c:v>0.97189999999999999</c:v>
                </c:pt>
                <c:pt idx="11">
                  <c:v>0.99160000000000004</c:v>
                </c:pt>
                <c:pt idx="12">
                  <c:v>0.96340000000000003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B3C0-4BAB-9554-42D85F48F5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57-4F96-A041-685AE9F9EAC9}"/>
              </c:ext>
            </c:extLst>
          </c:dPt>
          <c:dPt>
            <c:idx val="1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57-4F96-A041-685AE9F9EAC9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57-4F96-A041-685AE9F9EAC9}"/>
              </c:ext>
            </c:extLst>
          </c:dPt>
          <c:dPt>
            <c:idx val="3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57-4F96-A041-685AE9F9EAC9}"/>
              </c:ext>
            </c:extLst>
          </c:dPt>
          <c:dPt>
            <c:idx val="4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57-4F96-A041-685AE9F9EAC9}"/>
              </c:ext>
            </c:extLst>
          </c:dPt>
          <c:dPt>
            <c:idx val="5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957-4F96-A041-685AE9F9EAC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957-4F96-A041-685AE9F9EAC9}"/>
              </c:ext>
            </c:extLst>
          </c:dPt>
          <c:dPt>
            <c:idx val="7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957-4F96-A041-685AE9F9EAC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9957-4F96-A041-685AE9F9EAC9}"/>
              </c:ext>
            </c:extLst>
          </c:dPt>
          <c:dPt>
            <c:idx val="9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957-4F96-A041-685AE9F9EAC9}"/>
              </c:ext>
            </c:extLst>
          </c:dPt>
          <c:dPt>
            <c:idx val="1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9957-4F96-A041-685AE9F9EAC9}"/>
              </c:ext>
            </c:extLst>
          </c:dPt>
          <c:dPt>
            <c:idx val="11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9957-4F96-A041-685AE9F9EAC9}"/>
              </c:ext>
            </c:extLst>
          </c:dPt>
          <c:dPt>
            <c:idx val="12"/>
            <c:invertIfNegative val="0"/>
            <c:bubble3D val="0"/>
            <c:spPr>
              <a:solidFill>
                <a:srgbClr val="2DB6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9957-4F96-A041-685AE9F9EA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1F3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AR</c:v>
                </c:pt>
                <c:pt idx="1">
                  <c:v>DE</c:v>
                </c:pt>
                <c:pt idx="2">
                  <c:v>EN</c:v>
                </c:pt>
                <c:pt idx="3">
                  <c:v>ES</c:v>
                </c:pt>
                <c:pt idx="4">
                  <c:v>FR</c:v>
                </c:pt>
                <c:pt idx="5">
                  <c:v>IT</c:v>
                </c:pt>
                <c:pt idx="6">
                  <c:v>JA</c:v>
                </c:pt>
                <c:pt idx="7">
                  <c:v>NL</c:v>
                </c:pt>
                <c:pt idx="8">
                  <c:v>PL</c:v>
                </c:pt>
                <c:pt idx="9">
                  <c:v>PT</c:v>
                </c:pt>
                <c:pt idx="10">
                  <c:v>RO</c:v>
                </c:pt>
                <c:pt idx="11">
                  <c:v>TR</c:v>
                </c:pt>
                <c:pt idx="12">
                  <c:v>ZH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0.99790000000000001</c:v>
                </c:pt>
                <c:pt idx="1">
                  <c:v>0.98760000000000003</c:v>
                </c:pt>
                <c:pt idx="2">
                  <c:v>0.94650000000000001</c:v>
                </c:pt>
                <c:pt idx="3">
                  <c:v>0.98950000000000005</c:v>
                </c:pt>
                <c:pt idx="4">
                  <c:v>0.98770000000000002</c:v>
                </c:pt>
                <c:pt idx="5">
                  <c:v>0.98109999999999997</c:v>
                </c:pt>
                <c:pt idx="6">
                  <c:v>0.99790000000000001</c:v>
                </c:pt>
                <c:pt idx="7">
                  <c:v>0.98140000000000005</c:v>
                </c:pt>
                <c:pt idx="8">
                  <c:v>0.99790000000000001</c:v>
                </c:pt>
                <c:pt idx="9">
                  <c:v>0.97060000000000002</c:v>
                </c:pt>
                <c:pt idx="10">
                  <c:v>0</c:v>
                </c:pt>
                <c:pt idx="11">
                  <c:v>0.98140000000000005</c:v>
                </c:pt>
                <c:pt idx="12">
                  <c:v>0.98950000000000005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9957-4F96-A041-685AE9F9EA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7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A1187-7E97-48C2-96AB-61208F865FB7}" type="datetimeFigureOut"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7B398-137C-405C-8F65-768041D8F41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184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05840"/>
            <a:ext cx="1645920" cy="347472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vs. Transformer-based Approaches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03604" y="3977640"/>
            <a:ext cx="502920" cy="50292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360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29968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56332" y="3977640"/>
            <a:ext cx="502920" cy="50292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633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82696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09060" y="3977640"/>
            <a:ext cx="502920" cy="50292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90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35424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61788" y="3977640"/>
            <a:ext cx="502920" cy="50292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178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88152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14516" y="3977640"/>
            <a:ext cx="502920" cy="50292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451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40880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667244" y="3977640"/>
            <a:ext cx="502920" cy="50292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7244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93608" y="3977640"/>
            <a:ext cx="502920" cy="50292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6337" y="4663440"/>
            <a:ext cx="8768861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Nume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Cretu Alexandra , Grupa: 333 | 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Nume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Balasoiu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Bogdan, Grupa: 343 | 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Nume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Musat Stefan, Grupa: 343 | 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Nume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11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Balaceanu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Mihai, Grupa: 343</a:t>
            </a:r>
          </a:p>
          <a:p>
            <a:pPr marL="0" indent="0" algn="l">
              <a:buNone/>
            </a:pPr>
            <a:endParaRPr lang="en-US" sz="1100" dirty="0">
              <a:solidFill>
                <a:srgbClr val="8A97B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" cy="16916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Obiectiv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9047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Identificarea automata a limbii unui text din 13 limbi tinta. Sistemul trebuie sa functioneze pe fragmente scurte si pe texte mai lungi, cu acuratete ridicata.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73168" y="105156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73168" y="1051560"/>
            <a:ext cx="82296" cy="169164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Dataset-uri folosite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56048" y="149047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WiLI-2018 (propozitii Wikipedia, 70%) combinat cu Papluca/Tatoeba (30%). Romana augmentata cu 2.000 propozitii din OPUS-100 din cauza acoperirii limitate in Tatoeba.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82296" cy="16916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Abordari comparate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1071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pe caractere (implementat de la zero cu Laplace smoothing), TF-IDF + Logistic Regression / LinearSVC (scikit-learn), si XLM-RoBERTa (Hugging Face) ca model transformer.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297180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73168" y="2971800"/>
            <a:ext cx="82296" cy="169164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Code-switching (Romgleza)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410712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Detectie la nivel de token a mixajului romana-engleza. XLM-RoBERTa fine-tunat pe LinCE (lid_spaeng), adaptat pentru RO/EN. Demo interactiv prin Gradio.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Limbi Tinta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7899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16152"/>
            <a:ext cx="548640" cy="548640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3350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78608" y="1216152"/>
            <a:ext cx="548640" cy="548640"/>
          </a:xfrm>
          <a:prstGeom prst="ellipse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3350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07899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216152"/>
            <a:ext cx="548640" cy="548640"/>
          </a:xfrm>
          <a:prstGeom prst="ellipse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67528" y="13350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07899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1216152"/>
            <a:ext cx="548640" cy="5486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16368" y="13350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2404872"/>
            <a:ext cx="548640" cy="5486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" y="25237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226771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78608" y="2404872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18688" y="25237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226771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2404872"/>
            <a:ext cx="548640" cy="54864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67528" y="25237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226771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76288" y="2404872"/>
            <a:ext cx="548640" cy="5486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16368" y="25237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45643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29768" y="3593592"/>
            <a:ext cx="548640" cy="54864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9848" y="37124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468880" y="345643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78608" y="3593592"/>
            <a:ext cx="548640" cy="5486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78608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18688" y="37124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17720" y="345643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27448" y="3593592"/>
            <a:ext cx="548640" cy="548640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27448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67528" y="37124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345643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76288" y="3593592"/>
            <a:ext cx="548640" cy="5486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6288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16368" y="371246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53078" y="7210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62806" y="144370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62806" y="14437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02886" y="26324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exemple/limba  ·  Scripturi diferite: latin, arab, chinez, japonez  ·  70% WiLI + 30% Tatoeba  ·  Romana suplimentata cu OPUS-100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Preprocesarea Datelor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1371600" cy="9144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WiLI-2018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577340"/>
            <a:ext cx="347472" cy="0"/>
          </a:xfrm>
          <a:prstGeom prst="line">
            <a:avLst/>
          </a:prstGeom>
          <a:noFill/>
          <a:ln w="19050">
            <a:solidFill>
              <a:srgbClr val="8A97B5"/>
            </a:solidFill>
            <a:prstDash val="sysDot"/>
          </a:ln>
        </p:spPr>
      </p:sp>
      <p:sp>
        <p:nvSpPr>
          <p:cNvPr id="8" name="Text 6"/>
          <p:cNvSpPr/>
          <p:nvPr/>
        </p:nvSpPr>
        <p:spPr>
          <a:xfrm>
            <a:off x="1887322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30552" y="109728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30552" y="1097280"/>
            <a:ext cx="1371600" cy="9144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2070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Papluca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Tatoeba (30%)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02152" y="1577340"/>
            <a:ext cx="347472" cy="0"/>
          </a:xfrm>
          <a:prstGeom prst="line">
            <a:avLst/>
          </a:prstGeom>
          <a:noFill/>
          <a:ln w="19050">
            <a:solidFill>
              <a:srgbClr val="8A97B5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3606394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9624" y="109728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9624" y="1097280"/>
            <a:ext cx="137160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9624" y="12070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OPUS-100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(Romana)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21224" y="1577340"/>
            <a:ext cx="347472" cy="0"/>
          </a:xfrm>
          <a:prstGeom prst="line">
            <a:avLst/>
          </a:prstGeom>
          <a:noFill/>
          <a:ln w="19050">
            <a:solidFill>
              <a:srgbClr val="8A97B5"/>
            </a:solidFill>
            <a:prstDash val="sysDot"/>
          </a:ln>
        </p:spPr>
      </p:sp>
      <p:sp>
        <p:nvSpPr>
          <p:cNvPr id="18" name="Text 16"/>
          <p:cNvSpPr/>
          <p:nvPr/>
        </p:nvSpPr>
        <p:spPr>
          <a:xfrm>
            <a:off x="5325466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68696" y="109728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68696" y="1097280"/>
            <a:ext cx="1371600" cy="914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2070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Balansare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0296" y="1577340"/>
            <a:ext cx="347472" cy="0"/>
          </a:xfrm>
          <a:prstGeom prst="line">
            <a:avLst/>
          </a:prstGeom>
          <a:noFill/>
          <a:ln w="19050">
            <a:solidFill>
              <a:srgbClr val="8A97B5"/>
            </a:solidFill>
            <a:prstDash val="sysDot"/>
          </a:ln>
        </p:spPr>
      </p:sp>
      <p:sp>
        <p:nvSpPr>
          <p:cNvPr id="23" name="Text 21"/>
          <p:cNvSpPr/>
          <p:nvPr/>
        </p:nvSpPr>
        <p:spPr>
          <a:xfrm>
            <a:off x="7044538" y="14401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87768" y="109728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87768" y="1097280"/>
            <a:ext cx="1371600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7768" y="12070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Dev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240280"/>
            <a:ext cx="832104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304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Curatare text: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230428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 →  eliminare punctuatie  →  eliminare cifre  →  normalizare spatii. Fara stemming sau tokenizare avansata — modelele lucreaza pe caractere brute.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3182112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3182112"/>
            <a:ext cx="73152" cy="123444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236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70%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18.200 propozitii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8952" y="38313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Antrenare modele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3182112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0" y="3182112"/>
            <a:ext cx="73152" cy="123444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3236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· 15%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56432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3.900 propozitii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56432" y="38313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Selectie hyperparametri (n optim)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3182112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3182112"/>
            <a:ext cx="73152" cy="12344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32369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15%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53912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3.900 propozitii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53912" y="38313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 finala, o singura data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544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stratificat (proportii egale per limba) · Random seed fix (12) pentru reproductibilitate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Trei Modele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5156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2651760" cy="530352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 DE LA ZERO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pe Caractere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Fereastra glisanta de n caractere extrage secvente din text. Best n=4 ales pe dev set.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Probabilitatile se estimeaza cu Laplace smoothing (frecventa+1 / total+V) pentru a evita log(0)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Clasificarea = suma log-probabilitatilor n-gramelor pentru fiecare limba candidata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68496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librarii de clasificare: implementare de la zero, transparent si interpretabil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51560"/>
            <a:ext cx="2651760" cy="530352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1243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Classifier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10128" y="1664208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cu analyzer='char', ngram_range=(2,4): vectorizeaza textul pe baza de caractere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0128" y="2432304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(max_iter=1000): 97.92% acuratete, probabilitati calibrate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0128" y="320040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LinearSVC: 98.97% acuratete, mai rapid si mai robust pe seturi dezechilibrate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3968496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 cheie: antrenare in secunde, fara GPU, usor de deployed in productie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53328" y="1051560"/>
            <a:ext cx="26517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53328" y="1051560"/>
            <a:ext cx="2651760" cy="530352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051560"/>
            <a:ext cx="2651760" cy="201168"/>
          </a:xfrm>
          <a:prstGeom prst="rect">
            <a:avLst/>
          </a:prstGeom>
          <a:noFill/>
          <a:ln/>
        </p:spPr>
        <p:txBody>
          <a:bodyPr wrap="square" lIns="5080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TRANSFORMER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53328" y="1243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63056" y="1664208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papluca/xlm-roberta-base-language-detection, preantrenat pe 100 de limbi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63056" y="2432304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Folosit zero-shot (fara fine-tuning suplimentar) pe setul nostru de test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63056" y="3200400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90.99% pe setul nostru — scor scazut din cauza unui bug pe clasa RO (F1=0)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63056" y="3968496"/>
            <a:ext cx="24505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 RO: performanta comparabila cu modelele clasice pe celelalte 12 limbi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Comparative — Acuratete Globala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47472" y="1005840"/>
          <a:ext cx="52120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024128"/>
            <a:ext cx="3001107" cy="959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1024128"/>
            <a:ext cx="82296" cy="95971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1888" y="1078992"/>
            <a:ext cx="2772507" cy="380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98.97%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61888" y="1536192"/>
            <a:ext cx="2772507" cy="226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mai bun model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61888" y="1801368"/>
            <a:ext cx="2772507" cy="204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LinearSVC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256516"/>
            <a:ext cx="3001107" cy="959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06440" y="2256516"/>
            <a:ext cx="82296" cy="959710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311380"/>
            <a:ext cx="2772507" cy="380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961888" y="2768580"/>
            <a:ext cx="2772507" cy="226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961888" y="3033756"/>
            <a:ext cx="2772507" cy="204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91786" y="3540193"/>
            <a:ext cx="3001107" cy="9597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91786" y="3540193"/>
            <a:ext cx="82296" cy="95971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7234" y="3595057"/>
            <a:ext cx="2772507" cy="380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90.99%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947234" y="4052257"/>
            <a:ext cx="2772507" cy="226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947234" y="4317433"/>
            <a:ext cx="2772507" cy="204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nu e in cele 20 limbi suportate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7472" y="464515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modelele evaluate pe acelasi test set stratificat (15% din corpus, 3.900 propozitii). XLM-RoBERTa zero-shot, fara fine-tuning pe datele noastre.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per Limba — N-gram (best n=4)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47472" y="987552"/>
          <a:ext cx="83667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7472" y="4078224"/>
            <a:ext cx="109728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= 1.00: script arab unic, fara confuzie posibila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82112" y="4078224"/>
            <a:ext cx="109728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6499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= 0.92: precision scazuta (0.85), confundat cu FR/NL/DE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16752" y="4078224"/>
            <a:ext cx="109728" cy="3200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963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= 0.95: caractere diacritice sterse la curatare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4663440"/>
            <a:ext cx="18288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0.99 — Aproape perfect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96312" y="4663440"/>
            <a:ext cx="182880" cy="18288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0.97-0.99 — Puternic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45152" y="4663440"/>
            <a:ext cx="182880" cy="18288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0.95-0.97 — Bun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793992" y="4663440"/>
            <a:ext cx="182880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0.95 — Dificil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per Limba — TF-IDF + Logistic Regression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47472" y="987552"/>
          <a:ext cx="83667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7472" y="4078224"/>
            <a:ext cx="109728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= 0.998: precision si recall aproape perfecte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82112" y="4078224"/>
            <a:ext cx="109728" cy="3200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6499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 = 0.927: precision scazuta (0.877), unele greseli de clasificare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16752" y="4078224"/>
            <a:ext cx="109728" cy="3200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963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= 0.956: recall 0.924, unele propozitii RO clasificate gresit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4663440"/>
            <a:ext cx="18288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0.99 — Aproape perfect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96312" y="4663440"/>
            <a:ext cx="182880" cy="18288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0.97-0.99 — Puternic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45152" y="4663440"/>
            <a:ext cx="182880" cy="18288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0.95-0.97 — Bun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793992" y="4663440"/>
            <a:ext cx="182880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0.95 — Dificil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per Limba — TF-IDF + LinearSVC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47472" y="987552"/>
          <a:ext cx="83667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7472" y="4078224"/>
            <a:ext cx="109728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= 1.00: precision si recall perfecte (cel mai bun scor)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82112" y="4078224"/>
            <a:ext cx="109728" cy="32004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6499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mai multe limbi peste 0.99 — model foarte consistent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16752" y="4078224"/>
            <a:ext cx="109728" cy="32004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9632" y="40507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 = 0.963, RO = 0.972: singurele sub 0.98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4663440"/>
            <a:ext cx="182880" cy="18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0.99 — Aproape perfect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96312" y="4663440"/>
            <a:ext cx="182880" cy="18288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0.97-0.99 — Puternic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45152" y="4663440"/>
            <a:ext cx="182880" cy="18288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0.95-0.97 — Bun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793992" y="4663440"/>
            <a:ext cx="182880" cy="182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0.95 — Dificil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per Limba — XLM-RoBERTa (zero-shot)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47472" y="987552"/>
          <a:ext cx="83667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7472" y="4005072"/>
            <a:ext cx="109728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9867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= 0.00: modelul nu a fost antrenat pe romana — limba RO lipseste complet din cele 20 de limbi suportate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4334256"/>
            <a:ext cx="109728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315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AR, JA, PL = 0.998: scripturi unice, performanta excelenta pe limbile suportate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" y="4663440"/>
            <a:ext cx="109728" cy="256032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46451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= 0.947: cel mai slab dintre limbile suportate, confundat cu alte limbi latine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4645152"/>
            <a:ext cx="8430768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" y="4645152"/>
            <a:ext cx="64008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663440"/>
            <a:ext cx="8183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Concluzie: papluca/xlm-roberta-base-language-detection suporta exact 20 de limbi (ar, bg, de, el, en, es, fr, hi, it, ja, nl, pl, pt, ru, sw, th, tr, ur, vi, zh) — romana (ro) nu este inclusa, deci F1=0 este comportamentul asteptat, nu un bug.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Detectie Romgleza (Code-Switching)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32104"/>
            <a:ext cx="1280160" cy="45720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51560"/>
            <a:ext cx="841248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15568"/>
            <a:ext cx="8092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"Romgleza" este un fenomen real in comunicarea digitala informala romaneasca: cuvinte englezesti inserate in propozitii romanesti. Am antrenat XLM-RoBERTa pe dataset-ul LinCE lid_spaeng (spaniola-engleza) si l-am adaptat sa clasifice fiecare token drept RO / EN / OTHER. Modelul evaluat pe un corpus propriu de propozitii Romgleza.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"Ce faci bro how are you"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8716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27632" y="248716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7632" y="248716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27632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27632" y="268833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98064" y="248716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4A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8064" y="2487168"/>
            <a:ext cx="1078992" cy="201168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98064" y="268833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68496" y="248716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4A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8496" y="2487168"/>
            <a:ext cx="1078992" cy="201168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68496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68496" y="268833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38928" y="248716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4A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2487168"/>
            <a:ext cx="1078992" cy="201168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38928" y="268833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248716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4A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2487168"/>
            <a:ext cx="1078992" cy="201168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8833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"Deadline-ul e maine si n-am facut nimic"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4A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675888"/>
            <a:ext cx="1078992" cy="201168"/>
          </a:xfrm>
          <a:prstGeom prst="rect">
            <a:avLst/>
          </a:prstGeom>
          <a:solidFill>
            <a:srgbClr val="2F4A9E"/>
          </a:solidFill>
          <a:ln w="12700">
            <a:solidFill>
              <a:srgbClr val="2F4A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Deadline-ul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27632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27632" y="367588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27632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627632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98064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98064" y="367588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98064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98064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68496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968496" y="367588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68496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968496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38928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38928" y="367588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38928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38928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n-am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09360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367588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09360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79792" y="3675888"/>
            <a:ext cx="107899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B6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79792" y="3675888"/>
            <a:ext cx="1078992" cy="201168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79792" y="36758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79792" y="3877056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nimic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47472" y="4572000"/>
            <a:ext cx="8430768" cy="38404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59943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Gradio: tab "Language Identification" (N-gram / TF-IDF / BERT) + tab "Code-Switching Detector" (detectie token-level RO/EN)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38912" y="1078992"/>
            <a:ext cx="8275320" cy="685800"/>
          </a:xfrm>
          <a:prstGeom prst="rect">
            <a:avLst/>
          </a:prstGeom>
          <a:solidFill>
            <a:srgbClr val="253570"/>
          </a:solidFill>
          <a:ln w="12700">
            <a:solidFill>
              <a:srgbClr val="2535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078992"/>
            <a:ext cx="64008" cy="68580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152144"/>
            <a:ext cx="347472" cy="347472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52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133856"/>
            <a:ext cx="7543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LinearSVC este cel mai bun model: 98.97% acuratete, consistent pe toate limbile, antrenare rapida fara GPU.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" y="1847088"/>
            <a:ext cx="8275320" cy="685800"/>
          </a:xfrm>
          <a:prstGeom prst="rect">
            <a:avLst/>
          </a:prstGeom>
          <a:solidFill>
            <a:srgbClr val="253570"/>
          </a:solidFill>
          <a:ln w="12700">
            <a:solidFill>
              <a:srgbClr val="2535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1847088"/>
            <a:ext cx="64008" cy="68580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920240"/>
            <a:ext cx="347472" cy="347472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901952"/>
            <a:ext cx="7543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(best n=4) atinge 97.63% implementat de la zero — demonstreaza puterea statistica simpla fara librarii de clasificare.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" y="2615184"/>
            <a:ext cx="8275320" cy="685800"/>
          </a:xfrm>
          <a:prstGeom prst="rect">
            <a:avLst/>
          </a:prstGeom>
          <a:solidFill>
            <a:srgbClr val="253570"/>
          </a:solidFill>
          <a:ln w="12700">
            <a:solidFill>
              <a:srgbClr val="2535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615184"/>
            <a:ext cx="64008" cy="68580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688336"/>
            <a:ext cx="347472" cy="347472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670048"/>
            <a:ext cx="7543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inregistreaza 90.99% deoarece romana nu este in cele 20 de limbi pe care modelul le suporta — F1=0 pe RO este comportamentul asteptat. Fara RO, performanta e comparabila cu SVM.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" y="3383280"/>
            <a:ext cx="8275320" cy="685800"/>
          </a:xfrm>
          <a:prstGeom prst="rect">
            <a:avLst/>
          </a:prstGeom>
          <a:solidFill>
            <a:srgbClr val="253570"/>
          </a:solidFill>
          <a:ln w="12700">
            <a:solidFill>
              <a:srgbClr val="2535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383280"/>
            <a:ext cx="64008" cy="68580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56432"/>
            <a:ext cx="347472" cy="347472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56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438144"/>
            <a:ext cx="7543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Romgleza: detectia token-level RO/EN functioneaza eficient dupa fine-tuning pe LinCE, chiar si pe propozitii informale scurte.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912" y="4151376"/>
            <a:ext cx="8275320" cy="685800"/>
          </a:xfrm>
          <a:prstGeom prst="rect">
            <a:avLst/>
          </a:prstGeom>
          <a:solidFill>
            <a:srgbClr val="253570"/>
          </a:solidFill>
          <a:ln w="12700">
            <a:solidFill>
              <a:srgbClr val="2535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" y="4151376"/>
            <a:ext cx="64008" cy="685800"/>
          </a:xfrm>
          <a:prstGeom prst="rect">
            <a:avLst/>
          </a:prstGeom>
          <a:solidFill>
            <a:srgbClr val="2DB6C0"/>
          </a:solidFill>
          <a:ln w="12700">
            <a:solidFill>
              <a:srgbClr val="2DB6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224528"/>
            <a:ext cx="347472" cy="347472"/>
          </a:xfrm>
          <a:prstGeom prst="ellipse">
            <a:avLst/>
          </a:prstGeom>
          <a:solidFill>
            <a:srgbClr val="4C8BF5"/>
          </a:solidFill>
          <a:ln w="12700">
            <a:solidFill>
              <a:srgbClr val="4C8B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206240"/>
            <a:ext cx="75438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Gradio integreaza toate cele 3 modele + detectorul de code-switching intr-o interfata gata de prezentat.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Bucharest · NLP Course ·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Identification - NLP Project</dc:title>
  <dc:subject>PptxGenJS Presentation</dc:subject>
  <dc:creator>PptxGenJS</dc:creator>
  <cp:lastModifiedBy>PptxGenJS</cp:lastModifiedBy>
  <cp:revision>10</cp:revision>
  <dcterms:created xsi:type="dcterms:W3CDTF">2026-05-10T11:05:30Z</dcterms:created>
  <dcterms:modified xsi:type="dcterms:W3CDTF">2026-05-10T11:09:39Z</dcterms:modified>
</cp:coreProperties>
</file>